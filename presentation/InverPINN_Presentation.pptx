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ab75e892b64b6c" /><Relationship Type="http://schemas.openxmlformats.org/officeDocument/2006/relationships/extended-properties" Target="/docProps/app.xml" Id="R2664a477912648bf" /><Relationship Type="http://schemas.openxmlformats.org/officeDocument/2006/relationships/officeDocument" Target="/ppt/presentation.xml" Id="R0872a39fe3b44c68" /></Relationships>
</file>

<file path=ppt/presentation.xml><?xml version="1.0" encoding="utf-8"?>
<p:presentation xmlns:p="http://schemas.openxmlformats.org/presentationml/2006/main">
  <p:sldMasterIdLst>
    <p:sldMasterId xmlns:r="http://schemas.openxmlformats.org/officeDocument/2006/relationships" id="2147483648" r:id="R551d51e2746a4ea7"/>
  </p:sldMasterIdLst>
  <p:notesMasterIdLst>
    <p:notesMasterId xmlns:r="http://schemas.openxmlformats.org/officeDocument/2006/relationships" r:id="R594c3392a0df499d"/>
  </p:notesMasterIdLst>
  <p:sldIdLst>
    <p:sldId xmlns:r="http://schemas.openxmlformats.org/officeDocument/2006/relationships" id="256" r:id="Ra4b0ff1a67314677"/>
    <p:sldId xmlns:r="http://schemas.openxmlformats.org/officeDocument/2006/relationships" id="257" r:id="R2398e39d585245d2"/>
    <p:sldId xmlns:r="http://schemas.openxmlformats.org/officeDocument/2006/relationships" id="258" r:id="R39054ed5eb0d4c64"/>
    <p:sldId xmlns:r="http://schemas.openxmlformats.org/officeDocument/2006/relationships" id="259" r:id="Ra8338a9481be4636"/>
    <p:sldId xmlns:r="http://schemas.openxmlformats.org/officeDocument/2006/relationships" id="260" r:id="R9b8333322af24686"/>
    <p:sldId xmlns:r="http://schemas.openxmlformats.org/officeDocument/2006/relationships" id="261" r:id="R80599b441e184e70"/>
    <p:sldId xmlns:r="http://schemas.openxmlformats.org/officeDocument/2006/relationships" id="262" r:id="R21899cad0274460f"/>
    <p:sldId xmlns:r="http://schemas.openxmlformats.org/officeDocument/2006/relationships" id="263" r:id="R83982d9d0a0e40e1"/>
    <p:sldId xmlns:r="http://schemas.openxmlformats.org/officeDocument/2006/relationships" id="264" r:id="R4aeb35a11c4d43ff"/>
    <p:sldId xmlns:r="http://schemas.openxmlformats.org/officeDocument/2006/relationships" id="265" r:id="R3d1fea93b0b847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6372898b764b14" /><Relationship Type="http://schemas.openxmlformats.org/officeDocument/2006/relationships/slideMaster" Target="/ppt/slideMasters/slideMaster1.xml" Id="R551d51e2746a4ea7" /><Relationship Type="http://schemas.openxmlformats.org/officeDocument/2006/relationships/notesMaster" Target="/ppt/notesMasters/notesMaster1.xml" Id="R594c3392a0df499d" /><Relationship Type="http://schemas.openxmlformats.org/officeDocument/2006/relationships/presProps" Target="/ppt/presProps.xml" Id="R553c481f06d94673" /><Relationship Type="http://schemas.openxmlformats.org/officeDocument/2006/relationships/tableStyles" Target="/ppt/tableStyles.xml" Id="R82e83a019b5d4d5f" /><Relationship Type="http://schemas.openxmlformats.org/officeDocument/2006/relationships/slide" Target="/ppt/slides/slide1.xml" Id="Ra4b0ff1a67314677" /><Relationship Type="http://schemas.openxmlformats.org/officeDocument/2006/relationships/slide" Target="/ppt/slides/slide2.xml" Id="R2398e39d585245d2" /><Relationship Type="http://schemas.openxmlformats.org/officeDocument/2006/relationships/slide" Target="/ppt/slides/slide3.xml" Id="R39054ed5eb0d4c64" /><Relationship Type="http://schemas.openxmlformats.org/officeDocument/2006/relationships/slide" Target="/ppt/slides/slide4.xml" Id="Ra8338a9481be4636" /><Relationship Type="http://schemas.openxmlformats.org/officeDocument/2006/relationships/slide" Target="/ppt/slides/slide5.xml" Id="R9b8333322af24686" /><Relationship Type="http://schemas.openxmlformats.org/officeDocument/2006/relationships/slide" Target="/ppt/slides/slide6.xml" Id="R80599b441e184e70" /><Relationship Type="http://schemas.openxmlformats.org/officeDocument/2006/relationships/slide" Target="/ppt/slides/slide7.xml" Id="R21899cad0274460f" /><Relationship Type="http://schemas.openxmlformats.org/officeDocument/2006/relationships/slide" Target="/ppt/slides/slide8.xml" Id="R83982d9d0a0e40e1" /><Relationship Type="http://schemas.openxmlformats.org/officeDocument/2006/relationships/slide" Target="/ppt/slides/slide9.xml" Id="R4aeb35a11c4d43ff" /><Relationship Type="http://schemas.openxmlformats.org/officeDocument/2006/relationships/slide" Target="/ppt/slides/slide10.xml" Id="R3d1fea93b0b847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1e8c8423ab40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91a269d2954c3c" /><Relationship Type="http://schemas.openxmlformats.org/officeDocument/2006/relationships/notesMaster" Target="/ppt/notesMasters/notesMaster1.xml" Id="Rb226aec6fae640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f5a069d9054209" /><Relationship Type="http://schemas.openxmlformats.org/officeDocument/2006/relationships/notesMaster" Target="/ppt/notesMasters/notesMaster1.xml" Id="R98986d30c6504b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6d17e2d24c4a75" /><Relationship Type="http://schemas.openxmlformats.org/officeDocument/2006/relationships/notesMaster" Target="/ppt/notesMasters/notesMaster1.xml" Id="R58b70875cdeb47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9891c8d16d44d8" /><Relationship Type="http://schemas.openxmlformats.org/officeDocument/2006/relationships/notesMaster" Target="/ppt/notesMasters/notesMaster1.xml" Id="R4432fe6d7a0840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7a04b064be4ae9" /><Relationship Type="http://schemas.openxmlformats.org/officeDocument/2006/relationships/notesMaster" Target="/ppt/notesMasters/notesMaster1.xml" Id="Rdfc8ccca245349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1d1346e5e74b45" /><Relationship Type="http://schemas.openxmlformats.org/officeDocument/2006/relationships/notesMaster" Target="/ppt/notesMasters/notesMaster1.xml" Id="R8c75f768044e40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3000f0de4b4572" /><Relationship Type="http://schemas.openxmlformats.org/officeDocument/2006/relationships/notesMaster" Target="/ppt/notesMasters/notesMaster1.xml" Id="Rde7e55bcfed64e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72a45a79ef4f07" /><Relationship Type="http://schemas.openxmlformats.org/officeDocument/2006/relationships/notesMaster" Target="/ppt/notesMasters/notesMaster1.xml" Id="Rc2aff3564d3e4d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2bb47050524f9a" /><Relationship Type="http://schemas.openxmlformats.org/officeDocument/2006/relationships/notesMaster" Target="/ppt/notesMasters/notesMaster1.xml" Id="R592124ad566d4a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96abf593ea4097" /><Relationship Type="http://schemas.openxmlformats.org/officeDocument/2006/relationships/notesMaster" Target="/ppt/notesMasters/notesMaster1.xml" Id="Rcbf9d3a7ff3b47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InverPINN studies an inverse problem: using measured concentrations to estimate the location and strength of an unknown source. The experiments are synthetic, with known physics and known truth for evaluation. That lets us ask a precise question about the inverse method. The final answer was mixed: the PINN often localized sources well, but its source-strength bias persisted and it failed the required recovery rate. A classical inverse method performed better in this controlled setting.</a:t>
            </a:r>
          </a:p>
          <a:p xmlns:a="http://schemas.openxmlformats.org/drawingml/2006/main">
            <a:r>
              <a:t/>
            </a:r>
          </a:p>
          <a:p xmlns:a="http://schemas.openxmlformats.org/drawingml/2006/main">
            <a:r>
              <a:t>Key number: Final J1 recovery: 23/30.</a:t>
            </a:r>
          </a:p>
          <a:p xmlns:a="http://schemas.openxmlformats.org/drawingml/2006/main">
            <a:r>
              <a:t/>
            </a:r>
          </a:p>
          <a:p xmlns:a="http://schemas.openxmlformats.org/drawingml/2006/main">
            <a:r>
              <a:t>Transition: First, what makes source inference different from predicting concentration?</a:t>
            </a:r>
          </a:p>
          <a:p xmlns:a="http://schemas.openxmlformats.org/drawingml/2006/main">
            <a:r>
              <a:t/>
            </a:r>
          </a:p>
          <a:p xmlns:a="http://schemas.openxmlformats.org/drawingml/2006/main">
            <a:r>
              <a:t>Sources: paper/manuscript.md; paper/evidence/final/decision.json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A monitor records pollution after wind and diffusion have moved it. It does not directly measure the source. Reconstructing the concentration field and recovering the source are therefore different tasks. Here the unknowns are two location coordinates and a Gaussian peak intensity. Twenty fixed virtual sensors provide observations. Almaty motivates the application, but these experiments do not identify real emitters or reproduce the city's sensor network. Synthetic truth makes the errors measurable.</a:t>
            </a:r>
          </a:p>
          <a:p xmlns:a="http://schemas.openxmlformats.org/drawingml/2006/main">
            <a:r>
              <a:t/>
            </a:r>
          </a:p>
          <a:p xmlns:a="http://schemas.openxmlformats.org/drawingml/2006/main">
            <a:r>
              <a:t>Key number: 20 fixed sensors.</a:t>
            </a:r>
          </a:p>
          <a:p xmlns:a="http://schemas.openxmlformats.org/drawingml/2006/main">
            <a:r>
              <a:t/>
            </a:r>
          </a:p>
          <a:p xmlns:a="http://schemas.openxmlformats.org/drawingml/2006/main">
            <a:r>
              <a:t>Transition: The forward relationship is the advection-diffusion equation.</a:t>
            </a:r>
          </a:p>
          <a:p xmlns:a="http://schemas.openxmlformats.org/drawingml/2006/main">
            <a:r>
              <a:t/>
            </a:r>
          </a:p>
          <a:p xmlns:a="http://schemas.openxmlformats.org/drawingml/2006/main">
            <a:r>
              <a:t>Sources: paper/manuscript.md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The equation balances change in concentration with wind transport, diffusion and a source. The source is one stationary Gaussian. Wind, diffusion and source width are known, so inference concerns only location and strength. We prescribe zero concentration initially and on all four edges of a unit square. These absorbing boundaries simplify the problem. They are not a general atmospheric boundary model, and all units remain synthetic rather than representing real emissions.</a:t>
            </a:r>
          </a:p>
          <a:p xmlns:a="http://schemas.openxmlformats.org/drawingml/2006/main">
            <a:r>
              <a:t/>
            </a:r>
          </a:p>
          <a:p xmlns:a="http://schemas.openxmlformats.org/drawingml/2006/main">
            <a:r>
              <a:t>Key number: u=0.35, v=-0.15, D=0.005, sigma=0.08.</a:t>
            </a:r>
          </a:p>
          <a:p xmlns:a="http://schemas.openxmlformats.org/drawingml/2006/main">
            <a:r>
              <a:t/>
            </a:r>
          </a:p>
          <a:p xmlns:a="http://schemas.openxmlformats.org/drawingml/2006/main">
            <a:r>
              <a:t>Transition: A PINN combines sensor fitting with this physical relationship.</a:t>
            </a:r>
          </a:p>
          <a:p xmlns:a="http://schemas.openxmlformats.org/drawingml/2006/main">
            <a:r>
              <a:t/>
            </a:r>
          </a:p>
          <a:p xmlns:a="http://schemas.openxmlformats.org/drawingml/2006/main">
            <a:r>
              <a:t>Sources: paper/manuscript.md; paper/generated/tables/table1_physics.md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The PINN represents the concentration field with a neural network and uses automatic differentiation for the equation's derivatives. Its objective includes sensor error and the PDE residual. The revised field enforces positivity and the initial and boundary conditions by construction. However, source parameters do not directly enter the sensor loss when the field is held fixed. Observation information reaches source inference through coupling to the PDE residual. This distinction motivates the later bias diagnosis.</a:t>
            </a:r>
          </a:p>
          <a:p xmlns:a="http://schemas.openxmlformats.org/drawingml/2006/main">
            <a:r>
              <a:t/>
            </a:r>
          </a:p>
          <a:p xmlns:a="http://schemas.openxmlformats.org/drawingml/2006/main">
            <a:r>
              <a:t>Key number: Both final neural methods use 12,000 updates.</a:t>
            </a:r>
          </a:p>
          <a:p xmlns:a="http://schemas.openxmlformats.org/drawingml/2006/main">
            <a:r>
              <a:t/>
            </a:r>
          </a:p>
          <a:p xmlns:a="http://schemas.openxmlformats.org/drawingml/2006/main">
            <a:r>
              <a:t>Transition: Before interpreting inverse errors, the numerical reference needed checking.</a:t>
            </a:r>
          </a:p>
          <a:p xmlns:a="http://schemas.openxmlformats.org/drawingml/2006/main">
            <a:r>
              <a:t/>
            </a:r>
          </a:p>
          <a:p xmlns:a="http://schemas.openxmlformats.org/drawingml/2006/main">
            <a:r>
              <a:t>Sources: paper/manuscript.md; docs/source_field_coupling.md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Manufactured solutions and refinement checks preceded inverse experiments. The coarse reference was rejected for accuracy, and the final reference used a 641 by 641 grid. Thirty new final scenarios followed a frozen protocol. Fitting used sparse observations, while source truth and dense fields supported evaluation only. Three numerical-reference estimates exceeded the one-percent target and remained in the report. These are Richardson estimates, not certified error bounds. The required joint recovery rate was fixed in advance.</a:t>
            </a:r>
          </a:p>
          <a:p xmlns:a="http://schemas.openxmlformats.org/drawingml/2006/main">
            <a:r>
              <a:t/>
            </a:r>
          </a:p>
          <a:p xmlns:a="http://schemas.openxmlformats.org/drawingml/2006/main">
            <a:r>
              <a:t>Key number: Final requirement: at least 27/30 joint recoveries.</a:t>
            </a:r>
          </a:p>
          <a:p xmlns:a="http://schemas.openxmlformats.org/drawingml/2006/main">
            <a:r>
              <a:t/>
            </a:r>
          </a:p>
          <a:p xmlns:a="http://schemas.openxmlformats.org/drawingml/2006/main">
            <a:r>
              <a:t>Transition: Earlier tests had already exposed a gap between physical validity and recovery.</a:t>
            </a:r>
          </a:p>
          <a:p xmlns:a="http://schemas.openxmlformats.org/drawingml/2006/main">
            <a:r>
              <a:t/>
            </a:r>
          </a:p>
          <a:p xmlns:a="http://schemas.openxmlformats.org/drawingml/2006/main">
            <a:r>
              <a:t>Sources: paper/manuscript.md; paper/evidence/final/protocol.md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On an earlier, separate held-out set, the initial PINN recovered fourteen of thirty cases and predicted negative concentrations at many evaluation points. Hard constraints later removed those violations. They did not ensure correct source estimates. The revised PINN continued to underestimate source strength, including every case in the observability diagnostic set. These historical experiments are separate from the final thirty scenarios and are not pooled to improve a headline number.</a:t>
            </a:r>
          </a:p>
          <a:p xmlns:a="http://schemas.openxmlformats.org/drawingml/2006/main">
            <a:r>
              <a:t/>
            </a:r>
          </a:p>
          <a:p xmlns:a="http://schemas.openxmlformats.org/drawingml/2006/main">
            <a:r>
              <a:t>Key number: Historical B0 median negativity: 35.424%.</a:t>
            </a:r>
          </a:p>
          <a:p xmlns:a="http://schemas.openxmlformats.org/drawingml/2006/main">
            <a:r>
              <a:t/>
            </a:r>
          </a:p>
          <a:p xmlns:a="http://schemas.openxmlformats.org/drawingml/2006/main">
            <a:r>
              <a:t>Transition: Could weak sensor information alone explain the PINN's failures?</a:t>
            </a:r>
          </a:p>
          <a:p xmlns:a="http://schemas.openxmlformats.org/drawingml/2006/main">
            <a:r>
              <a:t/>
            </a:r>
          </a:p>
          <a:p xmlns:a="http://schemas.openxmlformats.org/drawingml/2006/main">
            <a:r>
              <a:t>Sources: paper/manuscript.md; paper/evidence/historical/initial_summary.json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Classical inversion searches source parameters through a numerical forward solver. It recovered all thirty final cases using the same observations as the PINNs. Separate conditional-strength diagnostics also recovered Q accurately when location was known. Together these findings weaken insufficient information as a complete explanation. The displayed historical observability map describes local sensitivity across source locations. It is not a posterior map or proof of global uniqueness. The comparison remains specific to the tested source family and known physics.</a:t>
            </a:r>
          </a:p>
          <a:p xmlns:a="http://schemas.openxmlformats.org/drawingml/2006/main">
            <a:r>
              <a:t/>
            </a:r>
          </a:p>
          <a:p xmlns:a="http://schemas.openxmlformats.org/drawingml/2006/main">
            <a:r>
              <a:t>Key number: Classical final recovery: 30/30.</a:t>
            </a:r>
          </a:p>
          <a:p xmlns:a="http://schemas.openxmlformats.org/drawingml/2006/main">
            <a:r>
              <a:t/>
            </a:r>
          </a:p>
          <a:p xmlns:a="http://schemas.openxmlformats.org/drawingml/2006/main">
            <a:r>
              <a:t>Transition: J1 then tested an analytical intervention in the PINN's amplitude optimization.</a:t>
            </a:r>
          </a:p>
          <a:p xmlns:a="http://schemas.openxmlformats.org/drawingml/2006/main">
            <a:r>
              <a:t/>
            </a:r>
          </a:p>
          <a:p xmlns:a="http://schemas.openxmlformats.org/drawingml/2006/main">
            <a:r>
              <a:t>Sources: paper/manuscript.md; docs/observability_diagnosis.md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For a fixed neural field and source location, the PDE residual is linear in source amplitude. Its least-squares optimum therefore has a closed form. J1 uses differentiable variable projection, subject to the positive amplitude domain, rather than optimizing Q as an independent Adam parameter. This uses no source truth. But the optimum is conditional on the learned field and sampled residual. An imperfect field can still produce a biased optimum. Profiling improved the development results without eliminating that possibility.</a:t>
            </a:r>
          </a:p>
          <a:p xmlns:a="http://schemas.openxmlformats.org/drawingml/2006/main">
            <a:r>
              <a:t/>
            </a:r>
          </a:p>
          <a:p xmlns:a="http://schemas.openxmlformats.org/drawingml/2006/main">
            <a:r>
              <a:t>Key number: Q is profiled each update, plus a fixed terminal profile.</a:t>
            </a:r>
          </a:p>
          <a:p xmlns:a="http://schemas.openxmlformats.org/drawingml/2006/main">
            <a:r>
              <a:t/>
            </a:r>
          </a:p>
          <a:p xmlns:a="http://schemas.openxmlformats.org/drawingml/2006/main">
            <a:r>
              <a:t>Transition: The decisive question was how the frozen method performed on fresh cases.</a:t>
            </a:r>
          </a:p>
          <a:p xmlns:a="http://schemas.openxmlformats.org/drawingml/2006/main">
            <a:r>
              <a:t/>
            </a:r>
          </a:p>
          <a:p xmlns:a="http://schemas.openxmlformats.org/drawingml/2006/main">
            <a:r>
              <a:t>Sources: paper/manuscript.md; docs/source_field_coupling.md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J1 recovered twenty-three of thirty sources jointly, or 76.67 percent. The preregistered requirement was twenty-seven, so confirmation failed even though its median errors passed the other gates. Median localization was 0.005574, relative Q error 5.975 percent and concentration L2 7.423 percent. Classical inversion recovered all thirty with lower median errors. J1 still underestimated Q in twenty-eight cases. Exact nonnegativity and zero initial and boundary violations did not compensate for the failed recovery rate.</a:t>
            </a:r>
          </a:p>
          <a:p xmlns:a="http://schemas.openxmlformats.org/drawingml/2006/main">
            <a:r>
              <a:t/>
            </a:r>
          </a:p>
          <a:p xmlns:a="http://schemas.openxmlformats.org/drawingml/2006/main">
            <a:r>
              <a:t>Key number: J1: 23/30. Required: 27/30. Classical: 30/30.</a:t>
            </a:r>
          </a:p>
          <a:p xmlns:a="http://schemas.openxmlformats.org/drawingml/2006/main">
            <a:r>
              <a:t/>
            </a:r>
          </a:p>
          <a:p xmlns:a="http://schemas.openxmlformats.org/drawingml/2006/main">
            <a:r>
              <a:t>Transition: The conclusion depends on the retained failures, not only the medians.</a:t>
            </a:r>
          </a:p>
          <a:p xmlns:a="http://schemas.openxmlformats.org/drawingml/2006/main">
            <a:r>
              <a:t/>
            </a:r>
          </a:p>
          <a:p xmlns:a="http://schemas.openxmlformats.org/drawingml/2006/main">
            <a:r>
              <a:t>Sources: paper/generated/tables/table3_final_benchmark.md; paper/evidence/final/decision.json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to say: This is the final case with the largest localization error, selected mechanically rather than for appearance. Its source-strength error was 62.183 percent and field L2 error was 69.724 percent. It remained in every aggregate. The evidence supports a formulation and optimization limitation in these PINNs, without uniquely isolating the cause. The project stopped after failed confirmation. Future noise, meteorology or real-data studies would require separate authorization and validation. The lesson is to distinguish physical consistency and attractive medians from dependable inverse recovery.</a:t>
            </a:r>
          </a:p>
          <a:p xmlns:a="http://schemas.openxmlformats.org/drawingml/2006/main">
            <a:r>
              <a:t/>
            </a:r>
          </a:p>
          <a:p xmlns:a="http://schemas.openxmlformats.org/drawingml/2006/main">
            <a:r>
              <a:t>Key number: Worst displayed case: Q error 62.183%; L2 69.724%.</a:t>
            </a:r>
          </a:p>
          <a:p xmlns:a="http://schemas.openxmlformats.org/drawingml/2006/main">
            <a:r>
              <a:t/>
            </a:r>
          </a:p>
          <a:p xmlns:a="http://schemas.openxmlformats.org/drawingml/2006/main">
            <a:r>
              <a:t>Transition: Questions.</a:t>
            </a:r>
          </a:p>
          <a:p xmlns:a="http://schemas.openxmlformats.org/drawingml/2006/main">
            <a:r>
              <a:t/>
            </a:r>
          </a:p>
          <a:p xmlns:a="http://schemas.openxmlformats.org/drawingml/2006/main">
            <a:r>
              <a:t>Sources: paper/manuscript.md; paper/evidence/manifest.json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a5f7cfa43a41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8912a875bf4a3d" /><Relationship Type="http://schemas.openxmlformats.org/officeDocument/2006/relationships/slideLayout" Target="/ppt/slideLayouts/slideLayout1.xml" Id="Ra41396da255f44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1396da255f44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6cbd94a589482f" /><Relationship Type="http://schemas.openxmlformats.org/officeDocument/2006/relationships/notesSlide" Target="/ppt/notesSlides/notesSlide1.xml" Id="R9e4a002480db46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7570f2972b4d37" /><Relationship Type="http://schemas.openxmlformats.org/officeDocument/2006/relationships/notesSlide" Target="/ppt/notesSlides/notesSlide2.xml" Id="R44b162e149bf4c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43154c81984839" /><Relationship Type="http://schemas.openxmlformats.org/officeDocument/2006/relationships/notesSlide" Target="/ppt/notesSlides/notesSlide3.xml" Id="R7fee96effdcb44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a56d01ca2b4de8" /><Relationship Type="http://schemas.openxmlformats.org/officeDocument/2006/relationships/image" Target="/ppt/media/image.png" Id="Rc9c4e540c2e94331" /><Relationship Type="http://schemas.openxmlformats.org/officeDocument/2006/relationships/notesSlide" Target="/ppt/notesSlides/notesSlide4.xml" Id="Rf0b0044544c54a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e1dee39ef74f85" /><Relationship Type="http://schemas.openxmlformats.org/officeDocument/2006/relationships/image" Target="/ppt/media/image2.png" Id="R8715d1b579e14151" /><Relationship Type="http://schemas.openxmlformats.org/officeDocument/2006/relationships/notesSlide" Target="/ppt/notesSlides/notesSlide5.xml" Id="Ra4d6174ed7e148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83436499044b64" /><Relationship Type="http://schemas.openxmlformats.org/officeDocument/2006/relationships/notesSlide" Target="/ppt/notesSlides/notesSlide6.xml" Id="Rac6dca4f6ad748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bdfd66c09d42a6" /><Relationship Type="http://schemas.openxmlformats.org/officeDocument/2006/relationships/image" Target="/ppt/media/image3.png" Id="R689b94cef6e64074" /><Relationship Type="http://schemas.openxmlformats.org/officeDocument/2006/relationships/notesSlide" Target="/ppt/notesSlides/notesSlide7.xml" Id="Rd695c258e8cc48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ff2961a1034d35" /><Relationship Type="http://schemas.openxmlformats.org/officeDocument/2006/relationships/notesSlide" Target="/ppt/notesSlides/notesSlide8.xml" Id="R1f96ab7682bc42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0488153f954c22" /><Relationship Type="http://schemas.openxmlformats.org/officeDocument/2006/relationships/notesSlide" Target="/ppt/notesSlides/notesSlide9.xml" Id="R0b8398aecb8547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a1bdad45bfe486b" /><Relationship Type="http://schemas.openxmlformats.org/officeDocument/2006/relationships/image" Target="/ppt/media/image4.png" Id="R5bcb77279d374ca5" /><Relationship Type="http://schemas.openxmlformats.org/officeDocument/2006/relationships/notesSlide" Target="/ppt/notesSlides/notesSlide10.xml" Id="Rdfb528df47f547a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7B8893-98CE-403E-9D15-969EEFBB9277}"/>
              </a:ext>
            </a:extLst>
          </p:cNvPr>
          <p:cNvSpPr>
            <a:spLocks xmlns:a="http://schemas.openxmlformats.org/drawingml/2006/main" noGrp="1"/>
          </p:cNvSpPr>
          <p:nvPr/>
        </p:nvSpPr>
        <p:spPr>
          <a:xfrm xmlns:a="http://schemas.openxmlformats.org/drawingml/2006/main">
            <a:off x="609600" y="8763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62321"/>
                </a:solidFill>
                <a:latin typeface="Liberation Serif"/>
                <a:ea typeface="Liberation Serif"/>
                <a:cs typeface="Liberation Serif"/>
              </a:defRPr>
            </a:pPr>
            <a:r>
              <a:rPr sz="5700" b="1">
                <a:solidFill>
                  <a:srgbClr val="262321"/>
                </a:solidFill>
                <a:latin typeface="Liberation Serif"/>
                <a:ea typeface="Liberation Serif"/>
                <a:cs typeface="Liberation Serif"/>
              </a:rPr>
              <a:t>InverPINN</a:t>
            </a:r>
          </a:p>
        </p:txBody>
      </p:sp>
      <p:sp>
        <p:nvSpPr>
          <p:cNvPr id="2" name="">
            <a:extLst xmlns:a="http://schemas.openxmlformats.org/drawingml/2006/main">
              <a:ext uri="{FF2B5EF4-FFF2-40B4-BE49-F238E27FC236}">
                <a16:creationId xmlns:a16="http://schemas.microsoft.com/office/drawing/2014/main" id="{D1123277-27D9-4C90-878B-5754B87457DE}"/>
              </a:ext>
            </a:extLst>
          </p:cNvPr>
          <p:cNvSpPr>
            <a:spLocks xmlns:a="http://schemas.openxmlformats.org/drawingml/2006/main" noGrp="1"/>
          </p:cNvSpPr>
          <p:nvPr/>
        </p:nvSpPr>
        <p:spPr>
          <a:xfrm xmlns:a="http://schemas.openxmlformats.org/drawingml/2006/main">
            <a:off x="647700" y="2076450"/>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713E48"/>
                </a:solidFill>
                <a:latin typeface="Liberation Serif"/>
                <a:ea typeface="Liberation Serif"/>
                <a:cs typeface="Liberation Serif"/>
              </a:defRPr>
            </a:pPr>
            <a:r>
              <a:rPr sz="3300" b="1">
                <a:solidFill>
                  <a:srgbClr val="713E48"/>
                </a:solidFill>
                <a:latin typeface="Liberation Serif"/>
                <a:ea typeface="Liberation Serif"/>
                <a:cs typeface="Liberation Serif"/>
              </a:rPr>
              <a:t>Source-strength bias in physics-informed pollution inversion</a:t>
            </a:r>
          </a:p>
        </p:txBody>
      </p:sp>
      <p:sp>
        <p:nvSpPr>
          <p:cNvPr id="3" name="">
            <a:extLst xmlns:a="http://schemas.openxmlformats.org/drawingml/2006/main">
              <a:ext uri="{FF2B5EF4-FFF2-40B4-BE49-F238E27FC236}">
                <a16:creationId xmlns:a16="http://schemas.microsoft.com/office/drawing/2014/main" id="{88EC2D27-84CB-48B9-B995-BE83FE6142B4}"/>
              </a:ext>
            </a:extLst>
          </p:cNvPr>
          <p:cNvSpPr>
            <a:spLocks xmlns:a="http://schemas.openxmlformats.org/drawingml/2006/main" noGrp="1"/>
          </p:cNvSpPr>
          <p:nvPr/>
        </p:nvSpPr>
        <p:spPr>
          <a:xfrm xmlns:a="http://schemas.openxmlformats.org/drawingml/2006/main">
            <a:off x="647700" y="3676650"/>
            <a:ext cx="1009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62321"/>
                </a:solidFill>
                <a:latin typeface="Liberation Sans"/>
                <a:ea typeface="Liberation Sans"/>
                <a:cs typeface="Liberation Sans"/>
              </a:defRPr>
            </a:pPr>
            <a:r>
              <a:rPr sz="2250" b="0">
                <a:solidFill>
                  <a:srgbClr val="262321"/>
                </a:solidFill>
                <a:latin typeface="Liberation Sans"/>
                <a:ea typeface="Liberation Sans"/>
                <a:cs typeface="Liberation Sans"/>
              </a:rPr>
              <a:t>How reliably can physics-informed neural networks recover a pollution source from sparse concentration measurements?</a:t>
            </a:r>
          </a:p>
        </p:txBody>
      </p:sp>
      <p:sp>
        <p:nvSpPr>
          <p:cNvPr id="4" name="">
            <a:extLst xmlns:a="http://schemas.openxmlformats.org/drawingml/2006/main">
              <a:ext uri="{FF2B5EF4-FFF2-40B4-BE49-F238E27FC236}">
                <a16:creationId xmlns:a16="http://schemas.microsoft.com/office/drawing/2014/main" id="{308C6511-1844-4E08-AC9A-4BF6C5986133}"/>
              </a:ext>
            </a:extLst>
          </p:cNvPr>
          <p:cNvSpPr>
            <a:spLocks xmlns:a="http://schemas.openxmlformats.org/drawingml/2006/main" noGrp="1"/>
          </p:cNvSpPr>
          <p:nvPr/>
        </p:nvSpPr>
        <p:spPr>
          <a:xfrm xmlns:a="http://schemas.openxmlformats.org/drawingml/2006/main">
            <a:off x="647700" y="56197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62321"/>
                </a:solidFill>
                <a:latin typeface="Liberation Sans"/>
                <a:ea typeface="Liberation Sans"/>
                <a:cs typeface="Liberation Sans"/>
              </a:defRPr>
            </a:pPr>
            <a:r>
              <a:rPr sz="1875" b="0">
                <a:solidFill>
                  <a:srgbClr val="262321"/>
                </a:solidFill>
                <a:latin typeface="Liberation Sans"/>
                <a:ea typeface="Liberation Sans"/>
                <a:cs typeface="Liberation Sans"/>
              </a:rPr>
              <a:t>Khadis Aidyn</a:t>
            </a:r>
          </a:p>
        </p:txBody>
      </p:sp>
    </p:spTree>
    <p:extLst>
      <p:ext uri="{BB962C8B-B14F-4D97-AF65-F5344CB8AC3E}">
        <p14:creationId xmlns:p14="http://schemas.microsoft.com/office/powerpoint/2010/main" val="16375717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D70350-56F6-4E26-833F-9435624F1184}"/>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Sparse measurements, unknown source</a:t>
            </a:r>
          </a:p>
        </p:txBody>
      </p:sp>
      <p:sp>
        <p:nvSpPr>
          <p:cNvPr id="2" name="">
            <a:extLst xmlns:a="http://schemas.openxmlformats.org/drawingml/2006/main">
              <a:ext uri="{FF2B5EF4-FFF2-40B4-BE49-F238E27FC236}">
                <a16:creationId xmlns:a16="http://schemas.microsoft.com/office/drawing/2014/main" id="{BAE873D6-2250-4013-8B12-2FB6FC3BEC1B}"/>
              </a:ext>
            </a:extLst>
          </p:cNvPr>
          <p:cNvSpPr>
            <a:spLocks xmlns:a="http://schemas.openxmlformats.org/drawingml/2006/main" noGrp="1"/>
          </p:cNvSpPr>
          <p:nvPr/>
        </p:nvSpPr>
        <p:spPr>
          <a:xfrm xmlns:a="http://schemas.openxmlformats.org/drawingml/2006/main">
            <a:off x="647700" y="1876425"/>
            <a:ext cx="10287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Sensors observe concentration after transport.</a:t>
            </a:r>
          </a:p>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The unknowns are source location x_s, y_s and peak intensity Q.</a:t>
            </a:r>
          </a:p>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Almaty motivates the question; no real Almaty measurements enter this study.</a:t>
            </a:r>
          </a:p>
        </p:txBody>
      </p:sp>
      <p:sp>
        <p:nvSpPr>
          <p:cNvPr id="3" name="">
            <a:extLst xmlns:a="http://schemas.openxmlformats.org/drawingml/2006/main">
              <a:ext uri="{FF2B5EF4-FFF2-40B4-BE49-F238E27FC236}">
                <a16:creationId xmlns:a16="http://schemas.microsoft.com/office/drawing/2014/main" id="{DB5BF44B-3A2E-4917-8662-A4EFB82DAA51}"/>
              </a:ext>
            </a:extLst>
          </p:cNvPr>
          <p:cNvSpPr>
            <a:spLocks xmlns:a="http://schemas.openxmlformats.org/drawingml/2006/main" noGrp="1"/>
          </p:cNvSpPr>
          <p:nvPr/>
        </p:nvSpPr>
        <p:spPr>
          <a:xfrm xmlns:a="http://schemas.openxmlformats.org/drawingml/2006/main">
            <a:off x="647700" y="56292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3E48"/>
                </a:solidFill>
                <a:latin typeface="Liberation Sans"/>
                <a:ea typeface="Liberation Sans"/>
                <a:cs typeface="Liberation Sans"/>
              </a:defRPr>
            </a:pPr>
            <a:r>
              <a:rPr sz="1800" b="0">
                <a:solidFill>
                  <a:srgbClr val="713E48"/>
                </a:solidFill>
                <a:latin typeface="Liberation Sans"/>
                <a:ea typeface="Liberation Sans"/>
                <a:cs typeface="Liberation Sans"/>
              </a:rPr>
              <a:t>20 fixed sensors.</a:t>
            </a:r>
          </a:p>
        </p:txBody>
      </p:sp>
      <p:sp>
        <p:nvSpPr>
          <p:cNvPr id="4" name="">
            <a:extLst xmlns:a="http://schemas.openxmlformats.org/drawingml/2006/main">
              <a:ext uri="{FF2B5EF4-FFF2-40B4-BE49-F238E27FC236}">
                <a16:creationId xmlns:a16="http://schemas.microsoft.com/office/drawing/2014/main" id="{11F7ECC7-3493-4EFA-A82F-18A769124012}"/>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2</a:t>
            </a:r>
          </a:p>
        </p:txBody>
      </p:sp>
    </p:spTree>
    <p:extLst>
      <p:ext uri="{BB962C8B-B14F-4D97-AF65-F5344CB8AC3E}">
        <p14:creationId xmlns:p14="http://schemas.microsoft.com/office/powerpoint/2010/main" val="19618021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346FE6-42D0-4046-948A-5F814B3D54B7}"/>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Known transport physics</a:t>
            </a:r>
          </a:p>
        </p:txBody>
      </p:sp>
      <p:sp>
        <p:nvSpPr>
          <p:cNvPr id="2" name="">
            <a:extLst xmlns:a="http://schemas.openxmlformats.org/drawingml/2006/main">
              <a:ext uri="{FF2B5EF4-FFF2-40B4-BE49-F238E27FC236}">
                <a16:creationId xmlns:a16="http://schemas.microsoft.com/office/drawing/2014/main" id="{44CABD7A-5B26-4D2F-A37E-FA047F03E6F1}"/>
              </a:ext>
            </a:extLst>
          </p:cNvPr>
          <p:cNvSpPr>
            <a:spLocks xmlns:a="http://schemas.openxmlformats.org/drawingml/2006/main" noGrp="1"/>
          </p:cNvSpPr>
          <p:nvPr/>
        </p:nvSpPr>
        <p:spPr>
          <a:xfrm xmlns:a="http://schemas.openxmlformats.org/drawingml/2006/main">
            <a:off x="647700" y="1752600"/>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62321"/>
                </a:solidFill>
                <a:latin typeface="Liberation Sans"/>
                <a:ea typeface="Liberation Sans"/>
                <a:cs typeface="Liberation Sans"/>
              </a:defRPr>
            </a:pPr>
            <a:r>
              <a:rPr sz="2550" b="0">
                <a:solidFill>
                  <a:srgbClr val="262321"/>
                </a:solidFill>
                <a:latin typeface="Liberation Sans"/>
                <a:ea typeface="Liberation Sans"/>
                <a:cs typeface="Liberation Sans"/>
              </a:rPr>
              <a:t>C_t + u C_x + v C_y = D(C_xx + C_yy) + QG</a:t>
            </a:r>
          </a:p>
          <a:p xmlns:a="http://schemas.openxmlformats.org/drawingml/2006/main">
            <a:r>
              <a:t/>
            </a:r>
          </a:p>
          <a:p xmlns:a="http://schemas.openxmlformats.org/drawingml/2006/main">
            <a:pPr>
              <a:defRPr sz="2550" b="0">
                <a:solidFill>
                  <a:srgbClr val="262321"/>
                </a:solidFill>
                <a:latin typeface="Liberation Sans"/>
                <a:ea typeface="Liberation Sans"/>
                <a:cs typeface="Liberation Sans"/>
              </a:defRPr>
            </a:pPr>
            <a:r>
              <a:rPr sz="2550" b="0">
                <a:solidFill>
                  <a:srgbClr val="262321"/>
                </a:solidFill>
                <a:latin typeface="Liberation Sans"/>
                <a:ea typeface="Liberation Sans"/>
                <a:cs typeface="Liberation Sans"/>
              </a:rPr>
              <a:t>Wind carries concentration; diffusion spreads it; the source adds it.</a:t>
            </a:r>
          </a:p>
          <a:p xmlns:a="http://schemas.openxmlformats.org/drawingml/2006/main">
            <a:pPr>
              <a:defRPr sz="2550" b="0">
                <a:solidFill>
                  <a:srgbClr val="262321"/>
                </a:solidFill>
                <a:latin typeface="Liberation Sans"/>
                <a:ea typeface="Liberation Sans"/>
                <a:cs typeface="Liberation Sans"/>
              </a:defRPr>
            </a:pPr>
            <a:r>
              <a:rPr sz="2550" b="0">
                <a:solidFill>
                  <a:srgbClr val="262321"/>
                </a:solidFill>
                <a:latin typeface="Liberation Sans"/>
                <a:ea typeface="Liberation Sans"/>
                <a:cs typeface="Liberation Sans"/>
              </a:rPr>
              <a:t>One Gaussian, known width and transport. Zero initial and boundary concentration.</a:t>
            </a:r>
          </a:p>
        </p:txBody>
      </p:sp>
      <p:sp>
        <p:nvSpPr>
          <p:cNvPr id="3" name="">
            <a:extLst xmlns:a="http://schemas.openxmlformats.org/drawingml/2006/main">
              <a:ext uri="{FF2B5EF4-FFF2-40B4-BE49-F238E27FC236}">
                <a16:creationId xmlns:a16="http://schemas.microsoft.com/office/drawing/2014/main" id="{D4530CCB-8E6A-4A98-B52C-E43F8DDA8F80}"/>
              </a:ext>
            </a:extLst>
          </p:cNvPr>
          <p:cNvSpPr>
            <a:spLocks xmlns:a="http://schemas.openxmlformats.org/drawingml/2006/main" noGrp="1"/>
          </p:cNvSpPr>
          <p:nvPr/>
        </p:nvSpPr>
        <p:spPr>
          <a:xfrm xmlns:a="http://schemas.openxmlformats.org/drawingml/2006/main">
            <a:off x="647700" y="5781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13E48"/>
                </a:solidFill>
                <a:latin typeface="Liberation Sans"/>
                <a:ea typeface="Liberation Sans"/>
                <a:cs typeface="Liberation Sans"/>
              </a:defRPr>
            </a:pPr>
            <a:r>
              <a:rPr sz="1725" b="0">
                <a:solidFill>
                  <a:srgbClr val="713E48"/>
                </a:solidFill>
                <a:latin typeface="Liberation Sans"/>
                <a:ea typeface="Liberation Sans"/>
                <a:cs typeface="Liberation Sans"/>
              </a:rPr>
              <a:t>u=0.35, v=-0.15, D=0.005, sigma=0.08.</a:t>
            </a:r>
          </a:p>
        </p:txBody>
      </p:sp>
      <p:sp>
        <p:nvSpPr>
          <p:cNvPr id="4" name="">
            <a:extLst xmlns:a="http://schemas.openxmlformats.org/drawingml/2006/main">
              <a:ext uri="{FF2B5EF4-FFF2-40B4-BE49-F238E27FC236}">
                <a16:creationId xmlns:a16="http://schemas.microsoft.com/office/drawing/2014/main" id="{AFF15338-A1EC-4E98-9ECA-9A6A38F5690B}"/>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3</a:t>
            </a:r>
          </a:p>
        </p:txBody>
      </p:sp>
    </p:spTree>
    <p:extLst>
      <p:ext uri="{BB962C8B-B14F-4D97-AF65-F5344CB8AC3E}">
        <p14:creationId xmlns:p14="http://schemas.microsoft.com/office/powerpoint/2010/main" val="5799320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19DC0D-DE43-4837-A091-1605512F6D7B}"/>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Neural field and source inference</a:t>
            </a:r>
          </a:p>
        </p:txBody>
      </p:sp>
      <p:sp>
        <p:nvSpPr>
          <p:cNvPr id="2" name="">
            <a:extLst xmlns:a="http://schemas.openxmlformats.org/drawingml/2006/main">
              <a:ext uri="{FF2B5EF4-FFF2-40B4-BE49-F238E27FC236}">
                <a16:creationId xmlns:a16="http://schemas.microsoft.com/office/drawing/2014/main" id="{F1675948-556D-4A46-9644-9862B0A37BB3}"/>
              </a:ext>
            </a:extLst>
          </p:cNvPr>
          <p:cNvSpPr>
            <a:spLocks xmlns:a="http://schemas.openxmlformats.org/drawingml/2006/main" noGrp="1"/>
          </p:cNvSpPr>
          <p:nvPr/>
        </p:nvSpPr>
        <p:spPr>
          <a:xfrm xmlns:a="http://schemas.openxmlformats.org/drawingml/2006/main">
            <a:off x="647700" y="14382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A PyTorch network represents C(x,y,t).</a:t>
            </a:r>
          </a:p>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Sensor loss fits observations; PDE residual couples the field to the source.</a:t>
            </a:r>
          </a:p>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Hard constraints enforce nonnegative concentration and exact zero IC/BC.</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9c4e540c2e94331"/>
          <a:stretch xmlns:a="http://schemas.openxmlformats.org/drawingml/2006/main"/>
        </p:blipFill>
        <p:spPr>
          <a:xfrm xmlns:a="http://schemas.openxmlformats.org/drawingml/2006/main">
            <a:off x="1120136" y="3009900"/>
            <a:ext cx="9951729" cy="3181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D82761-CEF7-4E69-A5E9-FF9B8550EE58}"/>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4</a:t>
            </a:r>
          </a:p>
        </p:txBody>
      </p:sp>
    </p:spTree>
    <p:extLst>
      <p:ext uri="{BB962C8B-B14F-4D97-AF65-F5344CB8AC3E}">
        <p14:creationId xmlns:p14="http://schemas.microsoft.com/office/powerpoint/2010/main" val="8175341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E8F274-338C-40B2-9A4D-89B2CF769E62}"/>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Reference quality and blind evaluation</a:t>
            </a:r>
          </a:p>
        </p:txBody>
      </p:sp>
      <p:sp>
        <p:nvSpPr>
          <p:cNvPr id="2" name="">
            <a:extLst xmlns:a="http://schemas.openxmlformats.org/drawingml/2006/main">
              <a:ext uri="{FF2B5EF4-FFF2-40B4-BE49-F238E27FC236}">
                <a16:creationId xmlns:a16="http://schemas.microsoft.com/office/drawing/2014/main" id="{4B3AF492-F25F-4BE5-B52E-B6120D4B0BD0}"/>
              </a:ext>
            </a:extLst>
          </p:cNvPr>
          <p:cNvSpPr>
            <a:spLocks xmlns:a="http://schemas.openxmlformats.org/drawingml/2006/main" noGrp="1"/>
          </p:cNvSpPr>
          <p:nvPr/>
        </p:nvSpPr>
        <p:spPr>
          <a:xfrm xmlns:a="http://schemas.openxmlformats.org/drawingml/2006/main">
            <a:off x="647700" y="143827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62321"/>
                </a:solidFill>
                <a:latin typeface="Liberation Sans"/>
                <a:ea typeface="Liberation Sans"/>
                <a:cs typeface="Liberation Sans"/>
              </a:defRPr>
            </a:pPr>
            <a:r>
              <a:rPr sz="2175" b="0">
                <a:solidFill>
                  <a:srgbClr val="262321"/>
                </a:solidFill>
                <a:latin typeface="Liberation Sans"/>
                <a:ea typeface="Liberation Sans"/>
                <a:cs typeface="Liberation Sans"/>
              </a:rPr>
              <a:t>641×641 numerical reference · 30 fresh final scenarios</a:t>
            </a:r>
          </a:p>
          <a:p xmlns:a="http://schemas.openxmlformats.org/drawingml/2006/main">
            <a:pPr>
              <a:defRPr sz="2175" b="0">
                <a:solidFill>
                  <a:srgbClr val="262321"/>
                </a:solidFill>
                <a:latin typeface="Liberation Sans"/>
                <a:ea typeface="Liberation Sans"/>
                <a:cs typeface="Liberation Sans"/>
              </a:defRPr>
            </a:pPr>
            <a:r>
              <a:rPr sz="2175" b="0">
                <a:solidFill>
                  <a:srgbClr val="262321"/>
                </a:solidFill>
                <a:latin typeface="Liberation Sans"/>
                <a:ea typeface="Liberation Sans"/>
                <a:cs typeface="Liberation Sans"/>
              </a:rPr>
              <a:t>Frozen methods and thresholds; all failures retained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715d1b579e14151"/>
          <a:stretch xmlns:a="http://schemas.openxmlformats.org/drawingml/2006/main"/>
        </p:blipFill>
        <p:spPr>
          <a:xfrm xmlns:a="http://schemas.openxmlformats.org/drawingml/2006/main">
            <a:off x="571500" y="2644013"/>
            <a:ext cx="11049000" cy="353212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530669-8FB1-4B24-BFDC-D182B52A2B1C}"/>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5</a:t>
            </a:r>
          </a:p>
        </p:txBody>
      </p:sp>
    </p:spTree>
    <p:extLst>
      <p:ext uri="{BB962C8B-B14F-4D97-AF65-F5344CB8AC3E}">
        <p14:creationId xmlns:p14="http://schemas.microsoft.com/office/powerpoint/2010/main" val="1423788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FC512D-F609-48BB-8C93-3ECCF57AB7D4}"/>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Early failure and persistent Q bias</a:t>
            </a:r>
          </a:p>
        </p:txBody>
      </p:sp>
      <p:sp>
        <p:nvSpPr>
          <p:cNvPr id="2" name="">
            <a:extLst xmlns:a="http://schemas.openxmlformats.org/drawingml/2006/main">
              <a:ext uri="{FF2B5EF4-FFF2-40B4-BE49-F238E27FC236}">
                <a16:creationId xmlns:a16="http://schemas.microsoft.com/office/drawing/2014/main" id="{C0642976-C543-4EC0-AB61-7B199A1188AD}"/>
              </a:ext>
            </a:extLst>
          </p:cNvPr>
          <p:cNvSpPr>
            <a:spLocks xmlns:a="http://schemas.openxmlformats.org/drawingml/2006/main" noGrp="1"/>
          </p:cNvSpPr>
          <p:nvPr/>
        </p:nvSpPr>
        <p:spPr>
          <a:xfrm xmlns:a="http://schemas.openxmlformats.org/drawingml/2006/main">
            <a:off x="647700" y="1876425"/>
            <a:ext cx="10287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Earlier B0 held-out test: 14/30 recovered</a:t>
            </a:r>
          </a:p>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Median negative-prediction fraction: 35.424%</a:t>
            </a:r>
          </a:p>
          <a:p xmlns:a="http://schemas.openxmlformats.org/drawingml/2006/main">
            <a:pPr>
              <a:defRPr sz="2700" b="0">
                <a:solidFill>
                  <a:srgbClr val="262321"/>
                </a:solidFill>
                <a:latin typeface="Liberation Sans"/>
                <a:ea typeface="Liberation Sans"/>
                <a:cs typeface="Liberation Sans"/>
              </a:defRPr>
            </a:pPr>
            <a:r>
              <a:rPr sz="2700" b="0">
                <a:solidFill>
                  <a:srgbClr val="262321"/>
                </a:solidFill>
                <a:latin typeface="Liberation Sans"/>
                <a:ea typeface="Liberation Sans"/>
                <a:cs typeface="Liberation Sans"/>
              </a:rPr>
              <a:t>Hard constraints removed physical violations, but strength bias remained.</a:t>
            </a:r>
          </a:p>
        </p:txBody>
      </p:sp>
      <p:sp>
        <p:nvSpPr>
          <p:cNvPr id="3" name="">
            <a:extLst xmlns:a="http://schemas.openxmlformats.org/drawingml/2006/main">
              <a:ext uri="{FF2B5EF4-FFF2-40B4-BE49-F238E27FC236}">
                <a16:creationId xmlns:a16="http://schemas.microsoft.com/office/drawing/2014/main" id="{83ACC751-B3D0-4CF6-97F9-3A09408A2E1D}"/>
              </a:ext>
            </a:extLst>
          </p:cNvPr>
          <p:cNvSpPr>
            <a:spLocks xmlns:a="http://schemas.openxmlformats.org/drawingml/2006/main" noGrp="1"/>
          </p:cNvSpPr>
          <p:nvPr/>
        </p:nvSpPr>
        <p:spPr>
          <a:xfrm xmlns:a="http://schemas.openxmlformats.org/drawingml/2006/main">
            <a:off x="647700" y="56292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713E48"/>
                </a:solidFill>
                <a:latin typeface="Liberation Sans"/>
                <a:ea typeface="Liberation Sans"/>
                <a:cs typeface="Liberation Sans"/>
              </a:defRPr>
            </a:pPr>
            <a:r>
              <a:rPr sz="1800" b="0">
                <a:solidFill>
                  <a:srgbClr val="713E48"/>
                </a:solidFill>
                <a:latin typeface="Liberation Sans"/>
                <a:ea typeface="Liberation Sans"/>
                <a:cs typeface="Liberation Sans"/>
              </a:rPr>
              <a:t>Historical B0 median negativity: 35.424%.</a:t>
            </a:r>
          </a:p>
        </p:txBody>
      </p:sp>
      <p:sp>
        <p:nvSpPr>
          <p:cNvPr id="4" name="">
            <a:extLst xmlns:a="http://schemas.openxmlformats.org/drawingml/2006/main">
              <a:ext uri="{FF2B5EF4-FFF2-40B4-BE49-F238E27FC236}">
                <a16:creationId xmlns:a16="http://schemas.microsoft.com/office/drawing/2014/main" id="{FECDE09F-AF9F-4281-AD6E-4253386C95FA}"/>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6</a:t>
            </a:r>
          </a:p>
        </p:txBody>
      </p:sp>
    </p:spTree>
    <p:extLst>
      <p:ext uri="{BB962C8B-B14F-4D97-AF65-F5344CB8AC3E}">
        <p14:creationId xmlns:p14="http://schemas.microsoft.com/office/powerpoint/2010/main" val="16099506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AB87CF-C2F3-4554-BB76-F53A65A13E83}"/>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Classical inversion exposed the recovery gap</a:t>
            </a:r>
          </a:p>
        </p:txBody>
      </p:sp>
      <p:sp>
        <p:nvSpPr>
          <p:cNvPr id="2" name="">
            <a:extLst xmlns:a="http://schemas.openxmlformats.org/drawingml/2006/main">
              <a:ext uri="{FF2B5EF4-FFF2-40B4-BE49-F238E27FC236}">
                <a16:creationId xmlns:a16="http://schemas.microsoft.com/office/drawing/2014/main" id="{D4DABAAA-488A-4140-846E-243F3BCBEF80}"/>
              </a:ext>
            </a:extLst>
          </p:cNvPr>
          <p:cNvSpPr>
            <a:spLocks xmlns:a="http://schemas.openxmlformats.org/drawingml/2006/main" noGrp="1"/>
          </p:cNvSpPr>
          <p:nvPr/>
        </p:nvSpPr>
        <p:spPr>
          <a:xfrm xmlns:a="http://schemas.openxmlformats.org/drawingml/2006/main">
            <a:off x="647700" y="1438275"/>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62321"/>
                </a:solidFill>
                <a:latin typeface="Liberation Sans"/>
                <a:ea typeface="Liberation Sans"/>
                <a:cs typeface="Liberation Sans"/>
              </a:defRPr>
            </a:pPr>
            <a:r>
              <a:rPr sz="2175" b="0">
                <a:solidFill>
                  <a:srgbClr val="262321"/>
                </a:solidFill>
                <a:latin typeface="Liberation Sans"/>
                <a:ea typeface="Liberation Sans"/>
                <a:cs typeface="Liberation Sans"/>
              </a:rPr>
              <a:t>Classical inversion recovered 30/30 final cases on identical observations.</a:t>
            </a:r>
          </a:p>
          <a:p xmlns:a="http://schemas.openxmlformats.org/drawingml/2006/main">
            <a:pPr>
              <a:defRPr sz="2175" b="0">
                <a:solidFill>
                  <a:srgbClr val="262321"/>
                </a:solidFill>
                <a:latin typeface="Liberation Sans"/>
                <a:ea typeface="Liberation Sans"/>
                <a:cs typeface="Liberation Sans"/>
              </a:defRPr>
            </a:pPr>
            <a:r>
              <a:rPr sz="2175" b="0">
                <a:solidFill>
                  <a:srgbClr val="262321"/>
                </a:solidFill>
                <a:latin typeface="Liberation Sans"/>
                <a:ea typeface="Liberation Sans"/>
                <a:cs typeface="Liberation Sans"/>
              </a:rPr>
              <a:t>The tested observations supported better recovery than the PINN achieved.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89b94cef6e64074"/>
          <a:stretch xmlns:a="http://schemas.openxmlformats.org/drawingml/2006/main"/>
        </p:blipFill>
        <p:spPr>
          <a:xfrm xmlns:a="http://schemas.openxmlformats.org/drawingml/2006/main">
            <a:off x="2341176" y="2628900"/>
            <a:ext cx="7509648" cy="3562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49A4DBE-2EBF-4422-9E12-90256490718D}"/>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7</a:t>
            </a:r>
          </a:p>
        </p:txBody>
      </p:sp>
    </p:spTree>
    <p:extLst>
      <p:ext uri="{BB962C8B-B14F-4D97-AF65-F5344CB8AC3E}">
        <p14:creationId xmlns:p14="http://schemas.microsoft.com/office/powerpoint/2010/main" val="10914283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64CD1B-789E-4108-BAF6-F8C498102EC5}"/>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J1 profiles source amplitude analytically</a:t>
            </a:r>
          </a:p>
        </p:txBody>
      </p:sp>
      <p:sp>
        <p:nvSpPr>
          <p:cNvPr id="2" name="">
            <a:extLst xmlns:a="http://schemas.openxmlformats.org/drawingml/2006/main">
              <a:ext uri="{FF2B5EF4-FFF2-40B4-BE49-F238E27FC236}">
                <a16:creationId xmlns:a16="http://schemas.microsoft.com/office/drawing/2014/main" id="{B4E8DB60-105F-439F-AD34-105D3F5E90C3}"/>
              </a:ext>
            </a:extLst>
          </p:cNvPr>
          <p:cNvSpPr>
            <a:spLocks xmlns:a="http://schemas.openxmlformats.org/drawingml/2006/main" noGrp="1"/>
          </p:cNvSpPr>
          <p:nvPr/>
        </p:nvSpPr>
        <p:spPr>
          <a:xfrm xmlns:a="http://schemas.openxmlformats.org/drawingml/2006/main">
            <a:off x="647700" y="1752600"/>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62321"/>
                </a:solidFill>
                <a:latin typeface="Liberation Sans"/>
                <a:ea typeface="Liberation Sans"/>
                <a:cs typeface="Liberation Sans"/>
              </a:defRPr>
            </a:pPr>
            <a:r>
              <a:rPr sz="2400" b="0">
                <a:solidFill>
                  <a:srgbClr val="262321"/>
                </a:solidFill>
                <a:latin typeface="Liberation Sans"/>
                <a:ea typeface="Liberation Sans"/>
                <a:cs typeface="Liberation Sans"/>
              </a:rPr>
              <a:t>Residual: R0 - QG</a:t>
            </a:r>
          </a:p>
          <a:p xmlns:a="http://schemas.openxmlformats.org/drawingml/2006/main">
            <a:pPr>
              <a:defRPr sz="2400" b="0">
                <a:solidFill>
                  <a:srgbClr val="262321"/>
                </a:solidFill>
                <a:latin typeface="Liberation Sans"/>
                <a:ea typeface="Liberation Sans"/>
                <a:cs typeface="Liberation Sans"/>
              </a:defRPr>
            </a:pPr>
            <a:r>
              <a:rPr sz="2400" b="0">
                <a:solidFill>
                  <a:srgbClr val="262321"/>
                </a:solidFill>
                <a:latin typeface="Liberation Sans"/>
                <a:ea typeface="Liberation Sans"/>
                <a:cs typeface="Liberation Sans"/>
              </a:rPr>
              <a:t>Q* = sum(w_i G_i R0_i) / sum(w_i G_i²)</a:t>
            </a:r>
          </a:p>
          <a:p xmlns:a="http://schemas.openxmlformats.org/drawingml/2006/main">
            <a:r>
              <a:t/>
            </a:r>
          </a:p>
          <a:p xmlns:a="http://schemas.openxmlformats.org/drawingml/2006/main">
            <a:pPr>
              <a:defRPr sz="2400" b="0">
                <a:solidFill>
                  <a:srgbClr val="262321"/>
                </a:solidFill>
                <a:latin typeface="Liberation Sans"/>
                <a:ea typeface="Liberation Sans"/>
                <a:cs typeface="Liberation Sans"/>
              </a:defRPr>
            </a:pPr>
            <a:r>
              <a:rPr sz="2400" b="0">
                <a:solidFill>
                  <a:srgbClr val="262321"/>
                </a:solidFill>
                <a:latin typeface="Liberation Sans"/>
                <a:ea typeface="Liberation Sans"/>
                <a:cs typeface="Liberation Sans"/>
              </a:rPr>
              <a:t>Q leaves Adam's parameter list. The field and location remain trainable.</a:t>
            </a:r>
          </a:p>
          <a:p xmlns:a="http://schemas.openxmlformats.org/drawingml/2006/main">
            <a:pPr>
              <a:defRPr sz="2400" b="0">
                <a:solidFill>
                  <a:srgbClr val="262321"/>
                </a:solidFill>
                <a:latin typeface="Liberation Sans"/>
                <a:ea typeface="Liberation Sans"/>
                <a:cs typeface="Liberation Sans"/>
              </a:defRPr>
            </a:pPr>
            <a:r>
              <a:rPr sz="2400" b="0">
                <a:solidFill>
                  <a:srgbClr val="262321"/>
                </a:solidFill>
                <a:latin typeface="Liberation Sans"/>
                <a:ea typeface="Liberation Sans"/>
                <a:cs typeface="Liberation Sans"/>
              </a:rPr>
              <a:t>This minimizes the sampled PDE objective, not observation mismatch through a solver.</a:t>
            </a:r>
          </a:p>
        </p:txBody>
      </p:sp>
      <p:sp>
        <p:nvSpPr>
          <p:cNvPr id="3" name="">
            <a:extLst xmlns:a="http://schemas.openxmlformats.org/drawingml/2006/main">
              <a:ext uri="{FF2B5EF4-FFF2-40B4-BE49-F238E27FC236}">
                <a16:creationId xmlns:a16="http://schemas.microsoft.com/office/drawing/2014/main" id="{480490C8-1D6A-4219-BBAB-2ECA82690ABB}"/>
              </a:ext>
            </a:extLst>
          </p:cNvPr>
          <p:cNvSpPr>
            <a:spLocks xmlns:a="http://schemas.openxmlformats.org/drawingml/2006/main" noGrp="1"/>
          </p:cNvSpPr>
          <p:nvPr/>
        </p:nvSpPr>
        <p:spPr>
          <a:xfrm xmlns:a="http://schemas.openxmlformats.org/drawingml/2006/main">
            <a:off x="647700" y="5781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13E48"/>
                </a:solidFill>
                <a:latin typeface="Liberation Sans"/>
                <a:ea typeface="Liberation Sans"/>
                <a:cs typeface="Liberation Sans"/>
              </a:defRPr>
            </a:pPr>
            <a:r>
              <a:rPr sz="1725" b="0">
                <a:solidFill>
                  <a:srgbClr val="713E48"/>
                </a:solidFill>
                <a:latin typeface="Liberation Sans"/>
                <a:ea typeface="Liberation Sans"/>
                <a:cs typeface="Liberation Sans"/>
              </a:rPr>
              <a:t>Q is profiled each update, plus a fixed terminal profile.</a:t>
            </a:r>
          </a:p>
        </p:txBody>
      </p:sp>
      <p:sp>
        <p:nvSpPr>
          <p:cNvPr id="4" name="">
            <a:extLst xmlns:a="http://schemas.openxmlformats.org/drawingml/2006/main">
              <a:ext uri="{FF2B5EF4-FFF2-40B4-BE49-F238E27FC236}">
                <a16:creationId xmlns:a16="http://schemas.microsoft.com/office/drawing/2014/main" id="{3E29BE24-6A2C-4D17-B52B-CFC9973B5C5B}"/>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8</a:t>
            </a:r>
          </a:p>
        </p:txBody>
      </p:sp>
    </p:spTree>
    <p:extLst>
      <p:ext uri="{BB962C8B-B14F-4D97-AF65-F5344CB8AC3E}">
        <p14:creationId xmlns:p14="http://schemas.microsoft.com/office/powerpoint/2010/main" val="3991690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13AB12-70C6-484B-98C3-79BA1F237645}"/>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J1 failed final confirmation</a:t>
            </a:r>
          </a:p>
        </p:txBody>
      </p:sp>
      <p:sp>
        <p:nvSpPr>
          <p:cNvPr id="2" name="">
            <a:extLst xmlns:a="http://schemas.openxmlformats.org/drawingml/2006/main">
              <a:ext uri="{FF2B5EF4-FFF2-40B4-BE49-F238E27FC236}">
                <a16:creationId xmlns:a16="http://schemas.microsoft.com/office/drawing/2014/main" id="{2D6108A2-C0BE-49B1-8BCC-8B5875204552}"/>
              </a:ext>
            </a:extLst>
          </p:cNvPr>
          <p:cNvSpPr>
            <a:spLocks xmlns:a="http://schemas.openxmlformats.org/drawingml/2006/main" noGrp="1"/>
          </p:cNvSpPr>
          <p:nvPr/>
        </p:nvSpPr>
        <p:spPr>
          <a:xfrm xmlns:a="http://schemas.openxmlformats.org/drawingml/2006/main">
            <a:off x="647700" y="14954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8C302F"/>
                </a:solidFill>
                <a:latin typeface="Liberation Serif"/>
                <a:ea typeface="Liberation Serif"/>
                <a:cs typeface="Liberation Serif"/>
              </a:defRPr>
            </a:pPr>
            <a:r>
              <a:rPr sz="2550" b="1">
                <a:solidFill>
                  <a:srgbClr val="8C302F"/>
                </a:solidFill>
                <a:latin typeface="Liberation Serif"/>
                <a:ea typeface="Liberation Serif"/>
                <a:cs typeface="Liberation Serif"/>
              </a:rPr>
              <a:t>23/30 = 76.67%; required 27/30 = 90%</a:t>
            </a:r>
          </a:p>
          <a:p xmlns:a="http://schemas.openxmlformats.org/drawingml/2006/main">
            <a:pPr>
              <a:defRPr sz="2550" b="1">
                <a:solidFill>
                  <a:srgbClr val="8C302F"/>
                </a:solidFill>
                <a:latin typeface="Liberation Serif"/>
                <a:ea typeface="Liberation Serif"/>
                <a:cs typeface="Liberation Serif"/>
              </a:defRPr>
            </a:pPr>
            <a:r>
              <a:rPr sz="2550" b="1">
                <a:solidFill>
                  <a:srgbClr val="8C302F"/>
                </a:solidFill>
                <a:latin typeface="Liberation Serif"/>
                <a:ea typeface="Liberation Serif"/>
                <a:cs typeface="Liberation Serif"/>
              </a:rPr>
              <a:t>28 Q underestimates / 2 overestimates</a:t>
            </a:r>
          </a:p>
        </p:txBody>
      </p:sp>
      <p:sp>
        <p:nvSpPr>
          <p:cNvPr id="3" name="">
            <a:extLst xmlns:a="http://schemas.openxmlformats.org/drawingml/2006/main">
              <a:ext uri="{FF2B5EF4-FFF2-40B4-BE49-F238E27FC236}">
                <a16:creationId xmlns:a16="http://schemas.microsoft.com/office/drawing/2014/main" id="{7C196430-630C-4399-A48D-4C305354B9AE}"/>
              </a:ext>
            </a:extLst>
          </p:cNvPr>
          <p:cNvSpPr>
            <a:spLocks xmlns:a="http://schemas.openxmlformats.org/drawingml/2006/main" noGrp="1"/>
          </p:cNvSpPr>
          <p:nvPr/>
        </p:nvSpPr>
        <p:spPr>
          <a:xfrm xmlns:a="http://schemas.openxmlformats.org/drawingml/2006/main">
            <a:off x="647700" y="24955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62321"/>
                </a:solidFill>
                <a:latin typeface="Liberation Sans"/>
                <a:ea typeface="Liberation Sans"/>
                <a:cs typeface="Liberation Sans"/>
              </a:defRPr>
            </a:pPr>
            <a:r>
              <a:rPr sz="1500" b="0">
                <a:solidFill>
                  <a:srgbClr val="262321"/>
                </a:solidFill>
                <a:latin typeface="Liberation Sans"/>
                <a:ea typeface="Liberation Sans"/>
                <a:cs typeface="Liberation Sans"/>
              </a:rPr>
              <a:t>Error columns report medians across all 30 fresh scenarios</a:t>
            </a:r>
          </a:p>
        </p:txBody>
      </p:sp>
      <p:graphicFrame>
        <p:nvGraphicFramePr>
          <p:cNvPr id="10" name=""/>
          <p:cNvGraphicFramePr/>
          <p:nvPr/>
        </p:nvGraphicFramePr>
        <p:xfrm>
          <a:off xmlns:a="http://schemas.openxmlformats.org/drawingml/2006/main" x="647700" y="2819400"/>
          <a:ext xmlns:a="http://schemas.openxmlformats.org/drawingml/2006/main" cx="10858500" cy="2438400"/>
        </p:xfrm>
        <a:graphic xmlns:a="http://schemas.openxmlformats.org/drawingml/2006/main">
          <a:graphicData uri="http://schemas.openxmlformats.org/drawingml/2006/table">
            <a:tbl>
              <a:tblPr/>
              <a:tblGrid>
                <a:gridCol w="2095500"/>
                <a:gridCol w="1666875"/>
                <a:gridCol w="2476500"/>
                <a:gridCol w="2095500"/>
                <a:gridCol w="2524125"/>
              </a:tblGrid>
              <a:tr h="609600">
                <a:tc>
                  <a:txBody>
                    <a:bodyPr/>
                    <a:lstStyle/>
                    <a:p>
                      <a:r>
                        <a:rPr sz="1875" b="1">
                          <a:solidFill>
                            <a:srgbClr val="262321"/>
                          </a:solidFill>
                          <a:latin typeface="Liberation Sans"/>
                          <a:ea typeface="Liberation Sans"/>
                          <a:cs typeface="Liberation Sans"/>
                        </a:rPr>
                        <a:t>Method</a:t>
                      </a:r>
                    </a:p>
                  </a:txBody>
                  <a:tcPr marL="91440" marR="91440" marT="45720" marB="45720">
                    <a:solidFill>
                      <a:srgbClr val="F2ECE8"/>
                    </a:solidFill>
                  </a:tcPr>
                </a:tc>
                <a:tc>
                  <a:txBody>
                    <a:bodyPr/>
                    <a:lstStyle/>
                    <a:p>
                      <a:r>
                        <a:rPr sz="1875" b="1">
                          <a:solidFill>
                            <a:srgbClr val="262321"/>
                          </a:solidFill>
                          <a:latin typeface="Liberation Sans"/>
                          <a:ea typeface="Liberation Sans"/>
                          <a:cs typeface="Liberation Sans"/>
                        </a:rPr>
                        <a:t>Recovery</a:t>
                      </a:r>
                    </a:p>
                  </a:txBody>
                  <a:tcPr marL="91440" marR="91440" marT="45720" marB="45720">
                    <a:solidFill>
                      <a:srgbClr val="F2ECE8"/>
                    </a:solidFill>
                  </a:tcPr>
                </a:tc>
                <a:tc>
                  <a:txBody>
                    <a:bodyPr/>
                    <a:lstStyle/>
                    <a:p>
                      <a:r>
                        <a:rPr sz="1875" b="1">
                          <a:solidFill>
                            <a:srgbClr val="262321"/>
                          </a:solidFill>
                          <a:latin typeface="Liberation Sans"/>
                          <a:ea typeface="Liberation Sans"/>
                          <a:cs typeface="Liberation Sans"/>
                        </a:rPr>
                        <a:t>Localization</a:t>
                      </a:r>
                    </a:p>
                  </a:txBody>
                  <a:tcPr marL="91440" marR="91440" marT="45720" marB="45720">
                    <a:solidFill>
                      <a:srgbClr val="F2ECE8"/>
                    </a:solidFill>
                  </a:tcPr>
                </a:tc>
                <a:tc>
                  <a:txBody>
                    <a:bodyPr/>
                    <a:lstStyle/>
                    <a:p>
                      <a:r>
                        <a:rPr sz="1875" b="1">
                          <a:solidFill>
                            <a:srgbClr val="262321"/>
                          </a:solidFill>
                          <a:latin typeface="Liberation Sans"/>
                          <a:ea typeface="Liberation Sans"/>
                          <a:cs typeface="Liberation Sans"/>
                        </a:rPr>
                        <a:t>Q error</a:t>
                      </a:r>
                    </a:p>
                  </a:txBody>
                  <a:tcPr marL="91440" marR="91440" marT="45720" marB="45720">
                    <a:solidFill>
                      <a:srgbClr val="F2ECE8"/>
                    </a:solidFill>
                  </a:tcPr>
                </a:tc>
                <a:tc>
                  <a:txBody>
                    <a:bodyPr/>
                    <a:lstStyle/>
                    <a:p>
                      <a:r>
                        <a:rPr sz="1875" b="1">
                          <a:solidFill>
                            <a:srgbClr val="262321"/>
                          </a:solidFill>
                          <a:latin typeface="Liberation Sans"/>
                          <a:ea typeface="Liberation Sans"/>
                          <a:cs typeface="Liberation Sans"/>
                        </a:rPr>
                        <a:t>Field L2</a:t>
                      </a:r>
                    </a:p>
                  </a:txBody>
                  <a:tcPr marL="91440" marR="91440" marT="45720" marB="45720">
                    <a:solidFill>
                      <a:srgbClr val="F2ECE8"/>
                    </a:solidFill>
                  </a:tcPr>
                </a:tc>
              </a:tr>
              <a:tr h="609600">
                <a:tc>
                  <a:txBody>
                    <a:bodyPr/>
                    <a:lstStyle/>
                    <a:p>
                      <a:r>
                        <a:rPr sz="1875" b="0">
                          <a:solidFill>
                            <a:srgbClr val="262321"/>
                          </a:solidFill>
                          <a:latin typeface="Liberation Sans"/>
                          <a:ea typeface="Liberation Sans"/>
                          <a:cs typeface="Liberation Sans"/>
                        </a:rPr>
                        <a:t>J1 PINN</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23/30</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0.005574</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5.975%</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7.423%</a:t>
                      </a:r>
                    </a:p>
                  </a:txBody>
                  <a:tcPr marL="91440" marR="91440" marT="45720" marB="45720">
                    <a:solidFill>
                      <a:srgbClr val="FFFFFF"/>
                    </a:solidFill>
                  </a:tcPr>
                </a:tc>
              </a:tr>
              <a:tr h="609600">
                <a:tc>
                  <a:txBody>
                    <a:bodyPr/>
                    <a:lstStyle/>
                    <a:p>
                      <a:r>
                        <a:rPr sz="1875" b="0">
                          <a:solidFill>
                            <a:srgbClr val="262321"/>
                          </a:solidFill>
                          <a:latin typeface="Liberation Sans"/>
                          <a:ea typeface="Liberation Sans"/>
                          <a:cs typeface="Liberation Sans"/>
                        </a:rPr>
                        <a:t>B_revised</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21/30</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0.009186</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9.319%</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11.048%</a:t>
                      </a:r>
                    </a:p>
                  </a:txBody>
                  <a:tcPr marL="91440" marR="91440" marT="45720" marB="45720">
                    <a:solidFill>
                      <a:srgbClr val="FFFFFF"/>
                    </a:solidFill>
                  </a:tcPr>
                </a:tc>
              </a:tr>
              <a:tr h="609600">
                <a:tc>
                  <a:txBody>
                    <a:bodyPr/>
                    <a:lstStyle/>
                    <a:p>
                      <a:r>
                        <a:rPr sz="1875" b="0">
                          <a:solidFill>
                            <a:srgbClr val="262321"/>
                          </a:solidFill>
                          <a:latin typeface="Liberation Sans"/>
                          <a:ea typeface="Liberation Sans"/>
                          <a:cs typeface="Liberation Sans"/>
                        </a:rPr>
                        <a:t>Classical</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30/30</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0.001111</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1.218%</a:t>
                      </a:r>
                    </a:p>
                  </a:txBody>
                  <a:tcPr marL="91440" marR="91440" marT="45720" marB="45720">
                    <a:solidFill>
                      <a:srgbClr val="FFFFFF"/>
                    </a:solidFill>
                  </a:tcPr>
                </a:tc>
                <a:tc>
                  <a:txBody>
                    <a:bodyPr/>
                    <a:lstStyle/>
                    <a:p>
                      <a:r>
                        <a:rPr sz="1875" b="0">
                          <a:solidFill>
                            <a:srgbClr val="262321"/>
                          </a:solidFill>
                          <a:latin typeface="Liberation Sans"/>
                          <a:ea typeface="Liberation Sans"/>
                          <a:cs typeface="Liberation Sans"/>
                        </a:rPr>
                        <a:t>1.507%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82B5CCE-A864-4663-A37E-CAF27E962782}"/>
              </a:ext>
            </a:extLst>
          </p:cNvPr>
          <p:cNvSpPr>
            <a:spLocks xmlns:a="http://schemas.openxmlformats.org/drawingml/2006/main" noGrp="1"/>
          </p:cNvSpPr>
          <p:nvPr/>
        </p:nvSpPr>
        <p:spPr>
          <a:xfrm xmlns:a="http://schemas.openxmlformats.org/drawingml/2006/main">
            <a:off x="647700" y="56197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62321"/>
                </a:solidFill>
                <a:latin typeface="Liberation Sans"/>
                <a:ea typeface="Liberation Sans"/>
                <a:cs typeface="Liberation Sans"/>
              </a:defRPr>
            </a:pPr>
            <a:r>
              <a:rPr sz="1725" b="0">
                <a:solidFill>
                  <a:srgbClr val="262321"/>
                </a:solidFill>
                <a:latin typeface="Liberation Sans"/>
                <a:ea typeface="Liberation Sans"/>
                <a:cs typeface="Liberation Sans"/>
              </a:rPr>
              <a:t>Joint recovery: localization ≤ 0.08 AND relative Q error ≤ 20%</a:t>
            </a:r>
          </a:p>
        </p:txBody>
      </p:sp>
      <p:sp>
        <p:nvSpPr>
          <p:cNvPr id="6" name="">
            <a:extLst xmlns:a="http://schemas.openxmlformats.org/drawingml/2006/main">
              <a:ext uri="{FF2B5EF4-FFF2-40B4-BE49-F238E27FC236}">
                <a16:creationId xmlns:a16="http://schemas.microsoft.com/office/drawing/2014/main" id="{4B5BCD23-2DC6-4486-8C87-368F44862748}"/>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9</a:t>
            </a:r>
          </a:p>
        </p:txBody>
      </p:sp>
    </p:spTree>
    <p:extLst>
      <p:ext uri="{BB962C8B-B14F-4D97-AF65-F5344CB8AC3E}">
        <p14:creationId xmlns:p14="http://schemas.microsoft.com/office/powerpoint/2010/main" val="19732409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6A1A6D-0E38-4584-B9F0-A4AF426824CC}"/>
              </a:ext>
            </a:extLst>
          </p:cNvPr>
          <p:cNvSpPr>
            <a:spLocks xmlns:a="http://schemas.openxmlformats.org/drawingml/2006/main" noGrp="1"/>
          </p:cNvSpPr>
          <p:nvPr/>
        </p:nvSpPr>
        <p:spPr>
          <a:xfrm xmlns:a="http://schemas.openxmlformats.org/drawingml/2006/main">
            <a:off x="609600" y="4000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62321"/>
                </a:solidFill>
                <a:latin typeface="Liberation Serif"/>
                <a:ea typeface="Liberation Serif"/>
                <a:cs typeface="Liberation Serif"/>
              </a:defRPr>
            </a:pPr>
            <a:r>
              <a:rPr sz="3300" b="1">
                <a:solidFill>
                  <a:srgbClr val="262321"/>
                </a:solidFill>
                <a:latin typeface="Liberation Serif"/>
                <a:ea typeface="Liberation Serif"/>
                <a:cs typeface="Liberation Serif"/>
              </a:rPr>
              <a:t>Physical validity did not guarantee recovery</a:t>
            </a:r>
          </a:p>
        </p:txBody>
      </p:sp>
      <p:sp>
        <p:nvSpPr>
          <p:cNvPr id="2" name="">
            <a:extLst xmlns:a="http://schemas.openxmlformats.org/drawingml/2006/main">
              <a:ext uri="{FF2B5EF4-FFF2-40B4-BE49-F238E27FC236}">
                <a16:creationId xmlns:a16="http://schemas.microsoft.com/office/drawing/2014/main" id="{8F8BC91F-9E66-42E1-8C06-DF43C896CFE1}"/>
              </a:ext>
            </a:extLst>
          </p:cNvPr>
          <p:cNvSpPr>
            <a:spLocks xmlns:a="http://schemas.openxmlformats.org/drawingml/2006/main" noGrp="1"/>
          </p:cNvSpPr>
          <p:nvPr/>
        </p:nvSpPr>
        <p:spPr>
          <a:xfrm xmlns:a="http://schemas.openxmlformats.org/drawingml/2006/main">
            <a:off x="647700" y="14382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All seven J1 joint failures missed the Q criterion.</a:t>
            </a:r>
          </a:p>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Development stopped after failed confirmation.</a:t>
            </a:r>
          </a:p>
          <a:p xmlns:a="http://schemas.openxmlformats.org/drawingml/2006/main">
            <a:pPr>
              <a:defRPr sz="2025" b="0">
                <a:solidFill>
                  <a:srgbClr val="262321"/>
                </a:solidFill>
                <a:latin typeface="Liberation Sans"/>
                <a:ea typeface="Liberation Sans"/>
                <a:cs typeface="Liberation Sans"/>
              </a:defRPr>
            </a:pPr>
            <a:r>
              <a:rPr sz="2025" b="0">
                <a:solidFill>
                  <a:srgbClr val="262321"/>
                </a:solidFill>
                <a:latin typeface="Liberation Sans"/>
                <a:ea typeface="Liberation Sans"/>
                <a:cs typeface="Liberation Sans"/>
              </a:rPr>
              <a:t>Noise, uncertain weather and real Almaty attribution remain unvalidated.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5bcb77279d374ca5"/>
          <a:stretch xmlns:a="http://schemas.openxmlformats.org/drawingml/2006/main"/>
        </p:blipFill>
        <p:spPr>
          <a:xfrm xmlns:a="http://schemas.openxmlformats.org/drawingml/2006/main">
            <a:off x="1735604" y="3009900"/>
            <a:ext cx="8720792" cy="3181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06B20F4-D7F8-456C-A398-0B568DF04428}"/>
              </a:ext>
            </a:extLst>
          </p:cNvPr>
          <p:cNvSpPr>
            <a:spLocks xmlns:a="http://schemas.openxmlformats.org/drawingml/2006/main" noGrp="1"/>
          </p:cNvSpPr>
          <p:nvPr/>
        </p:nvSpPr>
        <p:spPr>
          <a:xfrm xmlns:a="http://schemas.openxmlformats.org/drawingml/2006/main">
            <a:off x="11144250" y="639127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6A65"/>
                </a:solidFill>
                <a:latin typeface="Liberation Sans"/>
                <a:ea typeface="Liberation Sans"/>
                <a:cs typeface="Liberation Sans"/>
              </a:defRPr>
            </a:pPr>
            <a:r>
              <a:rPr sz="1275" b="0">
                <a:solidFill>
                  <a:srgbClr val="716A65"/>
                </a:solidFill>
                <a:latin typeface="Liberation Sans"/>
                <a:ea typeface="Liberation Sans"/>
                <a:cs typeface="Liberation Sans"/>
              </a:rPr>
              <a:t>10</a:t>
            </a:r>
          </a:p>
        </p:txBody>
      </p:sp>
    </p:spTree>
    <p:extLst>
      <p:ext uri="{BB962C8B-B14F-4D97-AF65-F5344CB8AC3E}">
        <p14:creationId xmlns:p14="http://schemas.microsoft.com/office/powerpoint/2010/main" val="4450444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ns0:coreProperties xmlns:dc="http://purl.org/dc/elements/1.1/" xmlns:ns0="http://schemas.openxmlformats.org/package/2006/metadata/core-properties" xmlns:ns2="http://purl.org/dc/terms/" xmlns:xsi="http://www.w3.org/2001/XMLSchema-instance">
  <dc:creator>Khadis Aidyn</dc:creator>
  <ns0:lastModifiedBy>Khadis Aidyn</ns0:lastModifiedBy>
  <dc:title>InverPINN Research Presentation</dc:title>
  <ns2:created xsi:type="dcterms:W3CDTF">2026-10-05T18:21:34.7410000Z</ns2:created>
  <ns2:modified xsi:type="dcterms:W3CDTF">2026-10-05T18:21:34.7410000Z</ns2:modified>
</ns0:coreProperties>
</file>